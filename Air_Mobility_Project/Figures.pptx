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74B9"/>
    <a:srgbClr val="E8A6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35" autoAdjust="0"/>
    <p:restoredTop sz="94660"/>
  </p:normalViewPr>
  <p:slideViewPr>
    <p:cSldViewPr snapToGrid="0">
      <p:cViewPr>
        <p:scale>
          <a:sx n="125" d="100"/>
          <a:sy n="125" d="100"/>
        </p:scale>
        <p:origin x="72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81DA4-8F17-42F7-A465-709C4CCBB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003EE9-BBC1-4199-B228-96D2966336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66C91-4E73-400F-9E6C-187EDBBE7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F4686-C83A-4393-9993-FFA22B409A62}" type="datetimeFigureOut">
              <a:rPr lang="en-SG" smtClean="0"/>
              <a:t>15/10/2020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D368C-FF68-4429-AE01-40403D645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72D92-EACB-411D-AE8B-E5AF644EB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F81DF-88AC-4EB0-AEBF-911075194BA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38449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D6F1-0CAF-4828-9945-44687559D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65E59-88D1-4D09-B0CD-EF5759651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26BB6-B8D0-4523-8E51-E4B0DA5F5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F4686-C83A-4393-9993-FFA22B409A62}" type="datetimeFigureOut">
              <a:rPr lang="en-SG" smtClean="0"/>
              <a:t>15/10/2020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A9D05-2E9B-41F4-9480-90C97C157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22531-A9AC-4D7C-A600-8A0A7D42A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F81DF-88AC-4EB0-AEBF-911075194BA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46222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07768-1A91-4C3F-843E-30FF57F13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E5B133-A959-4981-9FD1-FF160AE93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D3E6F-4DD9-47D5-ACA9-0B7D29C4C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F4686-C83A-4393-9993-FFA22B409A62}" type="datetimeFigureOut">
              <a:rPr lang="en-SG" smtClean="0"/>
              <a:t>15/10/2020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B6DA-6211-40CD-A8F9-81E443660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61CE7-07FE-401C-A0E2-5A5F6E6D8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F81DF-88AC-4EB0-AEBF-911075194BA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10105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042C5-05D3-49D8-8854-0E1527FE7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A69B0-271F-46C0-8112-D8D70ECA00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4810B9-F017-4F8E-B156-C83471C53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E92FCA-BF4A-493F-8595-9BC452910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F4686-C83A-4393-9993-FFA22B409A62}" type="datetimeFigureOut">
              <a:rPr lang="en-SG" smtClean="0"/>
              <a:t>15/10/2020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497720-293B-4415-8797-F049F6692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CB1D8-2042-42BC-817F-07028C168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F81DF-88AC-4EB0-AEBF-911075194BA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96677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C0FC1-C0FC-4B22-B34E-7F619018C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722DAB-7109-49FC-811D-51C930735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CB3563-A0DF-4AF5-8B1E-27CE93DC18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D71C50-4325-46E6-A646-A75CD26B77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7C87E9-1BF3-46B5-9462-1A0B266842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38D08F-5415-4175-9869-7C2723845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F4686-C83A-4393-9993-FFA22B409A62}" type="datetimeFigureOut">
              <a:rPr lang="en-SG" smtClean="0"/>
              <a:t>15/10/2020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8AB4CA-FF76-40F5-B060-26CCDF823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150729-260B-43D0-8268-9992F9329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F81DF-88AC-4EB0-AEBF-911075194BA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34211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9BB13-661B-4718-8647-7BC427DC5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523279-FB8A-4836-AA6E-292EDBBEB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F4686-C83A-4393-9993-FFA22B409A62}" type="datetimeFigureOut">
              <a:rPr lang="en-SG" smtClean="0"/>
              <a:t>15/10/2020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B310E0-1ADD-4F81-B704-0D0128E6D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6F06B0-A3D4-4083-ADAB-A11CA04C9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F81DF-88AC-4EB0-AEBF-911075194BA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91580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87F07F-CDFD-4A97-8EDB-407E0BD31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F4686-C83A-4393-9993-FFA22B409A62}" type="datetimeFigureOut">
              <a:rPr lang="en-SG" smtClean="0"/>
              <a:t>15/10/2020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BB55A5-BF75-4640-8B37-D9FB3C859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6CAC77-D4BA-4F42-AD03-337F8187C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F81DF-88AC-4EB0-AEBF-911075194BA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22425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B4079-E6B3-4F3C-8953-A3BE6C652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6CBFC-A68F-4495-B040-ADBF7B3E9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31A357-C48B-436F-A4BF-663A20ED6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4B7D12-4063-4F21-84D2-E3AB5B423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F4686-C83A-4393-9993-FFA22B409A62}" type="datetimeFigureOut">
              <a:rPr lang="en-SG" smtClean="0"/>
              <a:t>15/10/2020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E63073-E05F-47AE-8F1C-0FFEEF160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03AAB6-A49D-45A3-A473-6BE84FA2B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F81DF-88AC-4EB0-AEBF-911075194BA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59457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9D0A9-4912-4E1A-A5EE-711CF9742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889817-A8B0-424F-9709-D642EADD82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799D94-F11F-4445-820A-F70316A9E4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2EFAD6-A5A9-456E-93F1-F2E7678BA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F4686-C83A-4393-9993-FFA22B409A62}" type="datetimeFigureOut">
              <a:rPr lang="en-SG" smtClean="0"/>
              <a:t>15/10/2020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C0BE9D-6FF3-46C9-A7DC-E3076B31B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9F59C8-2F0B-47FF-B2CB-E700DFA69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F81DF-88AC-4EB0-AEBF-911075194BA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57900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DA5E7-6189-4E41-8FDE-EBAFD37D6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42FEE3-A4D2-4420-B557-61104F3109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389C7-B983-434D-91CF-214B353FF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F4686-C83A-4393-9993-FFA22B409A62}" type="datetimeFigureOut">
              <a:rPr lang="en-SG" smtClean="0"/>
              <a:t>15/10/2020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AD5355-1944-481C-A5EB-20A9A9E33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88757-4C5F-4096-93C6-735A84364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F81DF-88AC-4EB0-AEBF-911075194BA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56437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421F04-63FD-4721-BCEA-E3EA328DBE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E93A9E-2F08-46BB-B8E2-CECE00EFB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DE7C5-7E2A-477E-B25A-7AE554FD7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F4686-C83A-4393-9993-FFA22B409A62}" type="datetimeFigureOut">
              <a:rPr lang="en-SG" smtClean="0"/>
              <a:t>15/10/2020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49239-6DAD-4B3D-9B91-8B52A8D47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5E036-C33D-4654-92AB-A5871ECBE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F81DF-88AC-4EB0-AEBF-911075194BA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41680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AF95F2-EE10-4D73-99E6-B37E0BA5E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74DAA1-DDC5-4856-9F66-D9A7F6301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4252A-A825-49F6-AE6E-5CF0878BC2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4F4686-C83A-4393-9993-FFA22B409A62}" type="datetimeFigureOut">
              <a:rPr lang="en-SG" smtClean="0"/>
              <a:t>15/10/2020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9EBF81-E49C-4ABF-A02B-A62C959B1A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F0A3C-9CBB-42A4-8AAB-5E29134B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9F81DF-88AC-4EB0-AEBF-911075194BA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75402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B31F841-CF91-496B-98FE-C14F8A4CA29A}"/>
              </a:ext>
            </a:extLst>
          </p:cNvPr>
          <p:cNvSpPr/>
          <p:nvPr/>
        </p:nvSpPr>
        <p:spPr>
          <a:xfrm>
            <a:off x="508959" y="1285336"/>
            <a:ext cx="1779916" cy="888521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>
                <a:solidFill>
                  <a:schemeClr val="tx1"/>
                </a:solidFill>
              </a:rPr>
              <a:t>Trajectory planning and optimization 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3CC35F6-66F1-4CE9-8EBA-3725898D6AC3}"/>
              </a:ext>
            </a:extLst>
          </p:cNvPr>
          <p:cNvSpPr/>
          <p:nvPr/>
        </p:nvSpPr>
        <p:spPr>
          <a:xfrm>
            <a:off x="3792748" y="1285336"/>
            <a:ext cx="1702280" cy="888521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>
                <a:solidFill>
                  <a:schemeClr val="tx1"/>
                </a:solidFill>
              </a:rPr>
              <a:t>Position controller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F6DF52F-B2A1-4899-9BA6-0D3734C4678B}"/>
              </a:ext>
            </a:extLst>
          </p:cNvPr>
          <p:cNvSpPr/>
          <p:nvPr/>
        </p:nvSpPr>
        <p:spPr>
          <a:xfrm>
            <a:off x="6512945" y="1283066"/>
            <a:ext cx="1702280" cy="875658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>
                <a:solidFill>
                  <a:schemeClr val="tx1"/>
                </a:solidFill>
              </a:rPr>
              <a:t>Motor model and controller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E982B9C-2744-4BCD-A9BD-360C05BA865A}"/>
              </a:ext>
            </a:extLst>
          </p:cNvPr>
          <p:cNvSpPr/>
          <p:nvPr/>
        </p:nvSpPr>
        <p:spPr>
          <a:xfrm>
            <a:off x="9238896" y="1367286"/>
            <a:ext cx="1843177" cy="724619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>
                <a:solidFill>
                  <a:schemeClr val="tx1"/>
                </a:solidFill>
              </a:rPr>
              <a:t>Dynamic model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9CAB407-EE04-4C2F-8DBF-286B65F6827D}"/>
              </a:ext>
            </a:extLst>
          </p:cNvPr>
          <p:cNvSpPr/>
          <p:nvPr/>
        </p:nvSpPr>
        <p:spPr>
          <a:xfrm>
            <a:off x="3535393" y="3023634"/>
            <a:ext cx="2216989" cy="724619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>
                <a:solidFill>
                  <a:schemeClr val="tx1"/>
                </a:solidFill>
              </a:rPr>
              <a:t>Attitude planner and controller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E46E718-6A7B-4595-91E3-4F6FBD4080B1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2288875" y="1729597"/>
            <a:ext cx="150387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C9A5AB1-CFF1-4323-98C7-29DD9FED043E}"/>
              </a:ext>
            </a:extLst>
          </p:cNvPr>
          <p:cNvSpPr txBox="1"/>
          <p:nvPr/>
        </p:nvSpPr>
        <p:spPr>
          <a:xfrm>
            <a:off x="2408206" y="1259230"/>
            <a:ext cx="15038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Initial state of desired position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CCE1A6C-3212-4686-BCD1-248EE1C92336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5495028" y="1720895"/>
            <a:ext cx="1017917" cy="87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9F65E8F-0647-4071-B9F8-5B5E2475FE31}"/>
              </a:ext>
            </a:extLst>
          </p:cNvPr>
          <p:cNvSpPr txBox="1"/>
          <p:nvPr/>
        </p:nvSpPr>
        <p:spPr>
          <a:xfrm>
            <a:off x="5647430" y="1213903"/>
            <a:ext cx="9690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Desired thrust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93A59F0-3122-4182-87DC-0976C39B0737}"/>
              </a:ext>
            </a:extLst>
          </p:cNvPr>
          <p:cNvCxnSpPr>
            <a:cxnSpLocks/>
            <a:stCxn id="8" idx="3"/>
            <a:endCxn id="10" idx="1"/>
          </p:cNvCxnSpPr>
          <p:nvPr/>
        </p:nvCxnSpPr>
        <p:spPr>
          <a:xfrm>
            <a:off x="8215225" y="1720895"/>
            <a:ext cx="1023671" cy="87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9E9504C-E88A-434B-9CCA-71195EA5F3FC}"/>
              </a:ext>
            </a:extLst>
          </p:cNvPr>
          <p:cNvSpPr txBox="1"/>
          <p:nvPr/>
        </p:nvSpPr>
        <p:spPr>
          <a:xfrm>
            <a:off x="8264111" y="1213903"/>
            <a:ext cx="9690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Actual Motor RPMs</a:t>
            </a:r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DCE21DEF-283F-4F7B-85DB-6798DE1DCEF2}"/>
              </a:ext>
            </a:extLst>
          </p:cNvPr>
          <p:cNvCxnSpPr>
            <a:cxnSpLocks/>
            <a:endCxn id="12" idx="1"/>
          </p:cNvCxnSpPr>
          <p:nvPr/>
        </p:nvCxnSpPr>
        <p:spPr>
          <a:xfrm rot="16200000" flipH="1">
            <a:off x="2244626" y="2095177"/>
            <a:ext cx="1656350" cy="92518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B6AD6AAC-5C7E-4099-82CD-63FD9C9EA717}"/>
              </a:ext>
            </a:extLst>
          </p:cNvPr>
          <p:cNvSpPr txBox="1"/>
          <p:nvPr/>
        </p:nvSpPr>
        <p:spPr>
          <a:xfrm>
            <a:off x="2604100" y="2909068"/>
            <a:ext cx="10351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Desired yaw and state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2FE551A-DC25-4E62-8DDE-2778AC3A2BFC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>
            <a:off x="4643888" y="2173857"/>
            <a:ext cx="0" cy="8497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0075C5B7-2163-401B-9CA4-6BF19FEEA5DC}"/>
              </a:ext>
            </a:extLst>
          </p:cNvPr>
          <p:cNvSpPr txBox="1"/>
          <p:nvPr/>
        </p:nvSpPr>
        <p:spPr>
          <a:xfrm>
            <a:off x="4680550" y="2367913"/>
            <a:ext cx="10351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Acceleration error</a:t>
            </a:r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B87CD0B7-C076-4D06-B1B3-FA09B1884B61}"/>
              </a:ext>
            </a:extLst>
          </p:cNvPr>
          <p:cNvCxnSpPr>
            <a:cxnSpLocks/>
            <a:stCxn id="12" idx="3"/>
            <a:endCxn id="8" idx="2"/>
          </p:cNvCxnSpPr>
          <p:nvPr/>
        </p:nvCxnSpPr>
        <p:spPr>
          <a:xfrm flipV="1">
            <a:off x="5752382" y="2158724"/>
            <a:ext cx="1611703" cy="122722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59295ACF-B37F-49D9-8A3B-03D2AA141A03}"/>
              </a:ext>
            </a:extLst>
          </p:cNvPr>
          <p:cNvSpPr txBox="1"/>
          <p:nvPr/>
        </p:nvSpPr>
        <p:spPr>
          <a:xfrm>
            <a:off x="6193050" y="2909067"/>
            <a:ext cx="9690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Desired moment</a:t>
            </a:r>
          </a:p>
        </p:txBody>
      </p:sp>
    </p:spTree>
    <p:extLst>
      <p:ext uri="{BB962C8B-B14F-4D97-AF65-F5344CB8AC3E}">
        <p14:creationId xmlns:p14="http://schemas.microsoft.com/office/powerpoint/2010/main" val="2147640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Box 157">
            <a:extLst>
              <a:ext uri="{FF2B5EF4-FFF2-40B4-BE49-F238E27FC236}">
                <a16:creationId xmlns:a16="http://schemas.microsoft.com/office/drawing/2014/main" id="{A615C6EC-612D-41F1-A2DB-66CDAAD4F703}"/>
              </a:ext>
            </a:extLst>
          </p:cNvPr>
          <p:cNvSpPr txBox="1"/>
          <p:nvPr/>
        </p:nvSpPr>
        <p:spPr>
          <a:xfrm>
            <a:off x="6010216" y="3333616"/>
            <a:ext cx="369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+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2A390C-2CFD-4357-B94D-F2E50204A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084" y="-1143575"/>
            <a:ext cx="10515600" cy="1325563"/>
          </a:xfrm>
        </p:spPr>
        <p:txBody>
          <a:bodyPr>
            <a:normAutofit/>
          </a:bodyPr>
          <a:lstStyle/>
          <a:p>
            <a:r>
              <a:rPr lang="en-SG" dirty="0"/>
              <a:t>Control system architecture</a:t>
            </a:r>
            <a:br>
              <a:rPr lang="en-SG" dirty="0"/>
            </a:br>
            <a:r>
              <a:rPr lang="en-SG" sz="1400" dirty="0"/>
              <a:t>https://www.mathworks.com/videos/drone-simulation-and-control-part-2-how-do-you-get-a-drone-to-hover--1539323448303.html</a:t>
            </a:r>
            <a:endParaRPr lang="en-SG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2DF9630-8360-4764-829D-0880150AB306}"/>
              </a:ext>
            </a:extLst>
          </p:cNvPr>
          <p:cNvSpPr/>
          <p:nvPr/>
        </p:nvSpPr>
        <p:spPr>
          <a:xfrm>
            <a:off x="7996685" y="2166253"/>
            <a:ext cx="1702280" cy="172770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>
                <a:solidFill>
                  <a:schemeClr val="tx1"/>
                </a:solidFill>
              </a:rPr>
              <a:t>Motor model (mixing algo) and controller</a:t>
            </a:r>
          </a:p>
          <a:p>
            <a:pPr algn="ctr"/>
            <a:r>
              <a:rPr lang="en-SG" sz="1200" dirty="0">
                <a:solidFill>
                  <a:schemeClr val="tx1"/>
                </a:solidFill>
              </a:rPr>
              <a:t>M1  = T + R + P + Y</a:t>
            </a:r>
          </a:p>
          <a:p>
            <a:pPr algn="ctr"/>
            <a:r>
              <a:rPr lang="en-SG" sz="1200" dirty="0">
                <a:solidFill>
                  <a:schemeClr val="tx1"/>
                </a:solidFill>
              </a:rPr>
              <a:t>M2 = T – R + P – Y</a:t>
            </a:r>
          </a:p>
          <a:p>
            <a:pPr algn="ctr"/>
            <a:r>
              <a:rPr lang="en-SG" sz="1200" dirty="0">
                <a:solidFill>
                  <a:schemeClr val="tx1"/>
                </a:solidFill>
              </a:rPr>
              <a:t>M3 = T + R – P – Y</a:t>
            </a:r>
          </a:p>
          <a:p>
            <a:pPr algn="ctr"/>
            <a:r>
              <a:rPr lang="en-SG" sz="1200" dirty="0">
                <a:solidFill>
                  <a:schemeClr val="tx1"/>
                </a:solidFill>
              </a:rPr>
              <a:t>M4 = T – R – P + Y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C758399-892C-45AA-94CA-A160474BE5D4}"/>
              </a:ext>
            </a:extLst>
          </p:cNvPr>
          <p:cNvCxnSpPr>
            <a:cxnSpLocks/>
            <a:stCxn id="62" idx="3"/>
          </p:cNvCxnSpPr>
          <p:nvPr/>
        </p:nvCxnSpPr>
        <p:spPr>
          <a:xfrm>
            <a:off x="6295305" y="2407279"/>
            <a:ext cx="173166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A5F0DF1-A14B-4040-8B36-A9B0AB4AE873}"/>
              </a:ext>
            </a:extLst>
          </p:cNvPr>
          <p:cNvSpPr txBox="1"/>
          <p:nvPr/>
        </p:nvSpPr>
        <p:spPr>
          <a:xfrm>
            <a:off x="7458855" y="2155613"/>
            <a:ext cx="9690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roll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FABA030-831F-45AE-947F-62825C9B88D5}"/>
              </a:ext>
            </a:extLst>
          </p:cNvPr>
          <p:cNvCxnSpPr>
            <a:cxnSpLocks/>
            <a:stCxn id="6" idx="3"/>
            <a:endCxn id="39" idx="1"/>
          </p:cNvCxnSpPr>
          <p:nvPr/>
        </p:nvCxnSpPr>
        <p:spPr>
          <a:xfrm flipV="1">
            <a:off x="9698965" y="3026260"/>
            <a:ext cx="696809" cy="38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C444099-E8F3-424B-A7AD-188C9446AB1C}"/>
              </a:ext>
            </a:extLst>
          </p:cNvPr>
          <p:cNvSpPr txBox="1"/>
          <p:nvPr/>
        </p:nvSpPr>
        <p:spPr>
          <a:xfrm>
            <a:off x="9719755" y="2320122"/>
            <a:ext cx="969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Actual motor </a:t>
            </a:r>
          </a:p>
          <a:p>
            <a:r>
              <a:rPr lang="en-SG" sz="1200" dirty="0"/>
              <a:t>RPM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407CE0D2-E81D-4A1E-ADDD-8BC38D5D0599}"/>
              </a:ext>
            </a:extLst>
          </p:cNvPr>
          <p:cNvCxnSpPr>
            <a:cxnSpLocks/>
            <a:endCxn id="83" idx="4"/>
          </p:cNvCxnSpPr>
          <p:nvPr/>
        </p:nvCxnSpPr>
        <p:spPr>
          <a:xfrm rot="10800000">
            <a:off x="6323726" y="3710033"/>
            <a:ext cx="2604252" cy="93264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D0EB27F-29F2-4C03-901C-F229F3B61A3C}"/>
              </a:ext>
            </a:extLst>
          </p:cNvPr>
          <p:cNvSpPr txBox="1"/>
          <p:nvPr/>
        </p:nvSpPr>
        <p:spPr>
          <a:xfrm>
            <a:off x="7722377" y="4717484"/>
            <a:ext cx="17407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Current state: attitude</a:t>
            </a: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E2F96956-B773-49B7-879C-75AB05954BF6}"/>
              </a:ext>
            </a:extLst>
          </p:cNvPr>
          <p:cNvCxnSpPr>
            <a:cxnSpLocks/>
          </p:cNvCxnSpPr>
          <p:nvPr/>
        </p:nvCxnSpPr>
        <p:spPr>
          <a:xfrm rot="10800000" flipV="1">
            <a:off x="6329360" y="3037127"/>
            <a:ext cx="5383222" cy="1605550"/>
          </a:xfrm>
          <a:prstGeom prst="bentConnector3">
            <a:avLst>
              <a:gd name="adj1" fmla="val 41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FCE12FA-A7E4-461D-9897-05DB9853E4BF}"/>
              </a:ext>
            </a:extLst>
          </p:cNvPr>
          <p:cNvSpPr/>
          <p:nvPr/>
        </p:nvSpPr>
        <p:spPr>
          <a:xfrm>
            <a:off x="10395774" y="2717374"/>
            <a:ext cx="958026" cy="61777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400" dirty="0">
                <a:solidFill>
                  <a:schemeClr val="tx1"/>
                </a:solidFill>
              </a:rPr>
              <a:t>Dynamic model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C3910E7-7036-48BC-8FF7-FE55BF15BF5F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11353800" y="3026260"/>
            <a:ext cx="71756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9330F78-66B5-4728-8BD8-6BE1C848F75F}"/>
              </a:ext>
            </a:extLst>
          </p:cNvPr>
          <p:cNvCxnSpPr>
            <a:cxnSpLocks/>
            <a:stCxn id="78" idx="3"/>
          </p:cNvCxnSpPr>
          <p:nvPr/>
        </p:nvCxnSpPr>
        <p:spPr>
          <a:xfrm>
            <a:off x="6758078" y="2794201"/>
            <a:ext cx="12688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CAEE811-F4F7-428B-A855-74BD4F62CDCF}"/>
              </a:ext>
            </a:extLst>
          </p:cNvPr>
          <p:cNvSpPr txBox="1"/>
          <p:nvPr/>
        </p:nvSpPr>
        <p:spPr>
          <a:xfrm>
            <a:off x="7458856" y="2544732"/>
            <a:ext cx="9690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pitch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749F64B-4771-4522-97FB-4C8CC6CEC958}"/>
              </a:ext>
            </a:extLst>
          </p:cNvPr>
          <p:cNvCxnSpPr>
            <a:cxnSpLocks/>
          </p:cNvCxnSpPr>
          <p:nvPr/>
        </p:nvCxnSpPr>
        <p:spPr>
          <a:xfrm>
            <a:off x="7010309" y="3095376"/>
            <a:ext cx="99850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BB1A539-6CBF-4967-938F-83EA7D7EBC76}"/>
              </a:ext>
            </a:extLst>
          </p:cNvPr>
          <p:cNvSpPr txBox="1"/>
          <p:nvPr/>
        </p:nvSpPr>
        <p:spPr>
          <a:xfrm>
            <a:off x="7451128" y="2862352"/>
            <a:ext cx="9690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yaw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4A3BCE7-410C-4571-9032-5C236C00B2C0}"/>
              </a:ext>
            </a:extLst>
          </p:cNvPr>
          <p:cNvCxnSpPr>
            <a:cxnSpLocks/>
          </p:cNvCxnSpPr>
          <p:nvPr/>
        </p:nvCxnSpPr>
        <p:spPr>
          <a:xfrm>
            <a:off x="7451128" y="3569542"/>
            <a:ext cx="5425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20DDAB78-70C2-4BA5-8FBA-98DE14D681E8}"/>
              </a:ext>
            </a:extLst>
          </p:cNvPr>
          <p:cNvSpPr txBox="1"/>
          <p:nvPr/>
        </p:nvSpPr>
        <p:spPr>
          <a:xfrm>
            <a:off x="7422807" y="3320914"/>
            <a:ext cx="9690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thrust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BA1D40D7-536B-405F-82A8-108258FC902B}"/>
              </a:ext>
            </a:extLst>
          </p:cNvPr>
          <p:cNvSpPr/>
          <p:nvPr/>
        </p:nvSpPr>
        <p:spPr>
          <a:xfrm>
            <a:off x="5102351" y="2312289"/>
            <a:ext cx="158504" cy="18997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64C297C-66DE-4ACB-B00F-04A8C6DF9D0C}"/>
              </a:ext>
            </a:extLst>
          </p:cNvPr>
          <p:cNvSpPr/>
          <p:nvPr/>
        </p:nvSpPr>
        <p:spPr>
          <a:xfrm>
            <a:off x="5670610" y="2200981"/>
            <a:ext cx="624695" cy="4125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>
                <a:solidFill>
                  <a:sysClr val="windowText" lastClr="000000"/>
                </a:solidFill>
              </a:rPr>
              <a:t>Roll PD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09907FCC-862D-41A6-B6C3-0DBD63A06B80}"/>
              </a:ext>
            </a:extLst>
          </p:cNvPr>
          <p:cNvCxnSpPr>
            <a:stCxn id="61" idx="6"/>
            <a:endCxn id="62" idx="1"/>
          </p:cNvCxnSpPr>
          <p:nvPr/>
        </p:nvCxnSpPr>
        <p:spPr>
          <a:xfrm>
            <a:off x="5260855" y="2407279"/>
            <a:ext cx="409755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val 76">
            <a:extLst>
              <a:ext uri="{FF2B5EF4-FFF2-40B4-BE49-F238E27FC236}">
                <a16:creationId xmlns:a16="http://schemas.microsoft.com/office/drawing/2014/main" id="{B7102C06-DE85-4021-B70B-366AF0393576}"/>
              </a:ext>
            </a:extLst>
          </p:cNvPr>
          <p:cNvSpPr/>
          <p:nvPr/>
        </p:nvSpPr>
        <p:spPr>
          <a:xfrm>
            <a:off x="5563952" y="2699211"/>
            <a:ext cx="158504" cy="18997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EDF68C5-8AC5-450B-835F-C3FE094A9912}"/>
              </a:ext>
            </a:extLst>
          </p:cNvPr>
          <p:cNvSpPr/>
          <p:nvPr/>
        </p:nvSpPr>
        <p:spPr>
          <a:xfrm>
            <a:off x="6127721" y="2613577"/>
            <a:ext cx="630357" cy="36124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>
                <a:solidFill>
                  <a:sysClr val="windowText" lastClr="000000"/>
                </a:solidFill>
              </a:rPr>
              <a:t>Pitch PD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F07C5085-B0DD-4041-95CF-6FD01A75FB2A}"/>
              </a:ext>
            </a:extLst>
          </p:cNvPr>
          <p:cNvCxnSpPr>
            <a:cxnSpLocks/>
            <a:stCxn id="77" idx="6"/>
            <a:endCxn id="78" idx="1"/>
          </p:cNvCxnSpPr>
          <p:nvPr/>
        </p:nvCxnSpPr>
        <p:spPr>
          <a:xfrm>
            <a:off x="5722456" y="2794201"/>
            <a:ext cx="4052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0" name="Oval 79">
            <a:extLst>
              <a:ext uri="{FF2B5EF4-FFF2-40B4-BE49-F238E27FC236}">
                <a16:creationId xmlns:a16="http://schemas.microsoft.com/office/drawing/2014/main" id="{D929BD25-02EA-41E4-A527-99D62E3AAFB5}"/>
              </a:ext>
            </a:extLst>
          </p:cNvPr>
          <p:cNvSpPr/>
          <p:nvPr/>
        </p:nvSpPr>
        <p:spPr>
          <a:xfrm>
            <a:off x="5845933" y="3084796"/>
            <a:ext cx="158504" cy="18997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2E4D847-5F4D-4388-99E6-044BF0B0AB7E}"/>
              </a:ext>
            </a:extLst>
          </p:cNvPr>
          <p:cNvSpPr/>
          <p:nvPr/>
        </p:nvSpPr>
        <p:spPr>
          <a:xfrm>
            <a:off x="6414192" y="2973488"/>
            <a:ext cx="624695" cy="4125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>
                <a:solidFill>
                  <a:sysClr val="windowText" lastClr="000000"/>
                </a:solidFill>
              </a:rPr>
              <a:t>Yaw PD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29F48125-6691-4640-B551-37D012948676}"/>
              </a:ext>
            </a:extLst>
          </p:cNvPr>
          <p:cNvCxnSpPr>
            <a:stCxn id="80" idx="6"/>
            <a:endCxn id="81" idx="1"/>
          </p:cNvCxnSpPr>
          <p:nvPr/>
        </p:nvCxnSpPr>
        <p:spPr>
          <a:xfrm>
            <a:off x="6004437" y="3179786"/>
            <a:ext cx="409755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A10CF350-ACB0-4A72-A9F2-BCF646C39E4A}"/>
              </a:ext>
            </a:extLst>
          </p:cNvPr>
          <p:cNvSpPr/>
          <p:nvPr/>
        </p:nvSpPr>
        <p:spPr>
          <a:xfrm>
            <a:off x="6244474" y="3520054"/>
            <a:ext cx="158504" cy="18997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BD3A6897-2F72-4122-87C8-803277C8A84A}"/>
              </a:ext>
            </a:extLst>
          </p:cNvPr>
          <p:cNvSpPr/>
          <p:nvPr/>
        </p:nvSpPr>
        <p:spPr>
          <a:xfrm>
            <a:off x="6812733" y="3408746"/>
            <a:ext cx="624695" cy="412596"/>
          </a:xfrm>
          <a:prstGeom prst="rect">
            <a:avLst/>
          </a:prstGeom>
          <a:solidFill>
            <a:srgbClr val="E8A6D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>
                <a:solidFill>
                  <a:sysClr val="windowText" lastClr="000000"/>
                </a:solidFill>
              </a:rPr>
              <a:t>Thrust PD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9719CD19-1D7A-487E-B3AC-96A315EBCA6E}"/>
              </a:ext>
            </a:extLst>
          </p:cNvPr>
          <p:cNvCxnSpPr>
            <a:stCxn id="83" idx="6"/>
            <a:endCxn id="84" idx="1"/>
          </p:cNvCxnSpPr>
          <p:nvPr/>
        </p:nvCxnSpPr>
        <p:spPr>
          <a:xfrm>
            <a:off x="6402978" y="3615044"/>
            <a:ext cx="409755" cy="0"/>
          </a:xfrm>
          <a:prstGeom prst="straightConnector1">
            <a:avLst/>
          </a:prstGeom>
          <a:ln>
            <a:solidFill>
              <a:srgbClr val="DC74B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A1B963E6-0E35-4243-9890-F265A736334B}"/>
              </a:ext>
            </a:extLst>
          </p:cNvPr>
          <p:cNvCxnSpPr>
            <a:cxnSpLocks/>
            <a:endCxn id="80" idx="4"/>
          </p:cNvCxnSpPr>
          <p:nvPr/>
        </p:nvCxnSpPr>
        <p:spPr>
          <a:xfrm rot="10800000">
            <a:off x="5925186" y="3274775"/>
            <a:ext cx="3002793" cy="136790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F1144CE2-4F0A-4E79-848F-07CF257B4196}"/>
              </a:ext>
            </a:extLst>
          </p:cNvPr>
          <p:cNvCxnSpPr>
            <a:cxnSpLocks/>
            <a:endCxn id="77" idx="4"/>
          </p:cNvCxnSpPr>
          <p:nvPr/>
        </p:nvCxnSpPr>
        <p:spPr>
          <a:xfrm rot="10800000">
            <a:off x="5643204" y="2889191"/>
            <a:ext cx="3284774" cy="175348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EE578C99-33FE-49E8-A774-E82DFE161F9E}"/>
              </a:ext>
            </a:extLst>
          </p:cNvPr>
          <p:cNvCxnSpPr>
            <a:cxnSpLocks/>
            <a:endCxn id="61" idx="4"/>
          </p:cNvCxnSpPr>
          <p:nvPr/>
        </p:nvCxnSpPr>
        <p:spPr>
          <a:xfrm rot="10800000">
            <a:off x="5181604" y="2502269"/>
            <a:ext cx="3746375" cy="214040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8DCB04EF-6C60-4B46-A741-FBC727793500}"/>
              </a:ext>
            </a:extLst>
          </p:cNvPr>
          <p:cNvSpPr txBox="1"/>
          <p:nvPr/>
        </p:nvSpPr>
        <p:spPr>
          <a:xfrm>
            <a:off x="5111257" y="4341717"/>
            <a:ext cx="9690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roll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8C09131F-B294-41B2-A60C-81B3DFA54117}"/>
              </a:ext>
            </a:extLst>
          </p:cNvPr>
          <p:cNvSpPr txBox="1"/>
          <p:nvPr/>
        </p:nvSpPr>
        <p:spPr>
          <a:xfrm>
            <a:off x="5550330" y="4302445"/>
            <a:ext cx="9690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pitch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CB9255FC-95E6-49E1-9B5A-FE4196C266C0}"/>
              </a:ext>
            </a:extLst>
          </p:cNvPr>
          <p:cNvSpPr txBox="1"/>
          <p:nvPr/>
        </p:nvSpPr>
        <p:spPr>
          <a:xfrm>
            <a:off x="5872073" y="4124673"/>
            <a:ext cx="9690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yaw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8950D7C3-1167-49EB-9D95-6EF6AFEC6F4C}"/>
              </a:ext>
            </a:extLst>
          </p:cNvPr>
          <p:cNvSpPr txBox="1"/>
          <p:nvPr/>
        </p:nvSpPr>
        <p:spPr>
          <a:xfrm>
            <a:off x="6273562" y="4074247"/>
            <a:ext cx="9690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altitude</a:t>
            </a: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136A997B-22FA-4269-8792-8ECE26910D88}"/>
              </a:ext>
            </a:extLst>
          </p:cNvPr>
          <p:cNvSpPr/>
          <p:nvPr/>
        </p:nvSpPr>
        <p:spPr>
          <a:xfrm>
            <a:off x="1946280" y="1834490"/>
            <a:ext cx="1781201" cy="179263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SG" sz="1200" dirty="0">
                <a:solidFill>
                  <a:schemeClr val="tx1"/>
                </a:solidFill>
              </a:rPr>
              <a:t>Position controller</a:t>
            </a:r>
          </a:p>
          <a:p>
            <a:pPr algn="ctr"/>
            <a:r>
              <a:rPr lang="en-SG" dirty="0">
                <a:solidFill>
                  <a:schemeClr val="tx1"/>
                </a:solidFill>
              </a:rPr>
              <a:t> </a:t>
            </a:r>
          </a:p>
        </p:txBody>
      </p:sp>
      <p:cxnSp>
        <p:nvCxnSpPr>
          <p:cNvPr id="139" name="Connector: Elbow 138">
            <a:extLst>
              <a:ext uri="{FF2B5EF4-FFF2-40B4-BE49-F238E27FC236}">
                <a16:creationId xmlns:a16="http://schemas.microsoft.com/office/drawing/2014/main" id="{9C1139AE-A93C-4483-9CC8-1EF473D07555}"/>
              </a:ext>
            </a:extLst>
          </p:cNvPr>
          <p:cNvCxnSpPr>
            <a:cxnSpLocks/>
            <a:stCxn id="162" idx="0"/>
            <a:endCxn id="148" idx="0"/>
          </p:cNvCxnSpPr>
          <p:nvPr/>
        </p:nvCxnSpPr>
        <p:spPr>
          <a:xfrm rot="5400000" flipH="1" flipV="1">
            <a:off x="4383914" y="2498127"/>
            <a:ext cx="847255" cy="614613"/>
          </a:xfrm>
          <a:prstGeom prst="bentConnector3">
            <a:avLst>
              <a:gd name="adj1" fmla="val 99491"/>
            </a:avLst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: Elbow 140">
            <a:extLst>
              <a:ext uri="{FF2B5EF4-FFF2-40B4-BE49-F238E27FC236}">
                <a16:creationId xmlns:a16="http://schemas.microsoft.com/office/drawing/2014/main" id="{D6431231-09C9-4E0C-9164-A475CFCD9FCE}"/>
              </a:ext>
            </a:extLst>
          </p:cNvPr>
          <p:cNvCxnSpPr>
            <a:cxnSpLocks/>
            <a:stCxn id="162" idx="0"/>
            <a:endCxn id="77" idx="2"/>
          </p:cNvCxnSpPr>
          <p:nvPr/>
        </p:nvCxnSpPr>
        <p:spPr>
          <a:xfrm rot="5400000" flipH="1" flipV="1">
            <a:off x="4814664" y="2479773"/>
            <a:ext cx="434859" cy="10637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7C51CF80-7365-4235-AE32-4D95498918F0}"/>
              </a:ext>
            </a:extLst>
          </p:cNvPr>
          <p:cNvSpPr txBox="1"/>
          <p:nvPr/>
        </p:nvSpPr>
        <p:spPr>
          <a:xfrm>
            <a:off x="4859937" y="2071968"/>
            <a:ext cx="383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+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9E45F79C-F228-481F-8ACA-71560D2C7BEF}"/>
              </a:ext>
            </a:extLst>
          </p:cNvPr>
          <p:cNvSpPr txBox="1"/>
          <p:nvPr/>
        </p:nvSpPr>
        <p:spPr>
          <a:xfrm>
            <a:off x="4930009" y="2381805"/>
            <a:ext cx="369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-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69782E40-BD6D-44B0-B10B-FB76727420F7}"/>
              </a:ext>
            </a:extLst>
          </p:cNvPr>
          <p:cNvSpPr txBox="1"/>
          <p:nvPr/>
        </p:nvSpPr>
        <p:spPr>
          <a:xfrm>
            <a:off x="5402216" y="2768216"/>
            <a:ext cx="369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-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56F4170F-A31F-4431-B78A-3D5336D267CD}"/>
              </a:ext>
            </a:extLst>
          </p:cNvPr>
          <p:cNvSpPr txBox="1"/>
          <p:nvPr/>
        </p:nvSpPr>
        <p:spPr>
          <a:xfrm>
            <a:off x="5613309" y="2928200"/>
            <a:ext cx="369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+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D14E8279-AFFD-464D-9456-804A3FDA4C24}"/>
              </a:ext>
            </a:extLst>
          </p:cNvPr>
          <p:cNvSpPr txBox="1"/>
          <p:nvPr/>
        </p:nvSpPr>
        <p:spPr>
          <a:xfrm>
            <a:off x="5683381" y="3238036"/>
            <a:ext cx="369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-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741A138D-E780-4D88-A384-50B3115DBAC3}"/>
              </a:ext>
            </a:extLst>
          </p:cNvPr>
          <p:cNvSpPr txBox="1"/>
          <p:nvPr/>
        </p:nvSpPr>
        <p:spPr>
          <a:xfrm>
            <a:off x="6080288" y="3698316"/>
            <a:ext cx="369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-</a:t>
            </a:r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C24BB4E1-5470-4806-8CE4-DE576036FC7E}"/>
              </a:ext>
            </a:extLst>
          </p:cNvPr>
          <p:cNvSpPr/>
          <p:nvPr/>
        </p:nvSpPr>
        <p:spPr>
          <a:xfrm>
            <a:off x="3982281" y="3229060"/>
            <a:ext cx="1035907" cy="65284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SG" sz="1200" dirty="0">
                <a:solidFill>
                  <a:schemeClr val="tx1"/>
                </a:solidFill>
              </a:rPr>
              <a:t>Attitude controller</a:t>
            </a:r>
            <a:endParaRPr lang="en-SG" dirty="0">
              <a:solidFill>
                <a:schemeClr val="tx1"/>
              </a:solidFill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4F385EB0-F854-430F-8CCF-8E9047D7B5E1}"/>
              </a:ext>
            </a:extLst>
          </p:cNvPr>
          <p:cNvSpPr txBox="1"/>
          <p:nvPr/>
        </p:nvSpPr>
        <p:spPr>
          <a:xfrm>
            <a:off x="956120" y="1317094"/>
            <a:ext cx="969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900" dirty="0"/>
              <a:t>Desired position</a:t>
            </a:r>
          </a:p>
          <a:p>
            <a:r>
              <a:rPr lang="en-SG" sz="900" dirty="0"/>
              <a:t>Initial state</a:t>
            </a:r>
          </a:p>
        </p:txBody>
      </p:sp>
      <p:cxnSp>
        <p:nvCxnSpPr>
          <p:cNvPr id="179" name="Straight Arrow Connector 178">
            <a:extLst>
              <a:ext uri="{FF2B5EF4-FFF2-40B4-BE49-F238E27FC236}">
                <a16:creationId xmlns:a16="http://schemas.microsoft.com/office/drawing/2014/main" id="{4A779E9A-F1BB-4408-8C12-F691362F81D1}"/>
              </a:ext>
            </a:extLst>
          </p:cNvPr>
          <p:cNvCxnSpPr>
            <a:cxnSpLocks/>
          </p:cNvCxnSpPr>
          <p:nvPr/>
        </p:nvCxnSpPr>
        <p:spPr>
          <a:xfrm flipV="1">
            <a:off x="1697913" y="2147044"/>
            <a:ext cx="248368" cy="11461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Box 179">
            <a:extLst>
              <a:ext uri="{FF2B5EF4-FFF2-40B4-BE49-F238E27FC236}">
                <a16:creationId xmlns:a16="http://schemas.microsoft.com/office/drawing/2014/main" id="{BB56BDC0-8F96-41E2-B0D7-862952F7B956}"/>
              </a:ext>
            </a:extLst>
          </p:cNvPr>
          <p:cNvSpPr txBox="1"/>
          <p:nvPr/>
        </p:nvSpPr>
        <p:spPr>
          <a:xfrm>
            <a:off x="1343031" y="1807307"/>
            <a:ext cx="369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+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7254F279-EDEF-4016-8293-C56D490E7CEB}"/>
              </a:ext>
            </a:extLst>
          </p:cNvPr>
          <p:cNvSpPr txBox="1"/>
          <p:nvPr/>
        </p:nvSpPr>
        <p:spPr>
          <a:xfrm>
            <a:off x="1357064" y="2099781"/>
            <a:ext cx="369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-</a:t>
            </a: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4C682B08-C506-4443-9C66-FDE3EDE9D713}"/>
              </a:ext>
            </a:extLst>
          </p:cNvPr>
          <p:cNvSpPr/>
          <p:nvPr/>
        </p:nvSpPr>
        <p:spPr>
          <a:xfrm>
            <a:off x="1539069" y="2063517"/>
            <a:ext cx="167123" cy="18997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1CA588FD-BE98-4CE2-81EA-7303574D2F0B}"/>
              </a:ext>
            </a:extLst>
          </p:cNvPr>
          <p:cNvCxnSpPr>
            <a:cxnSpLocks/>
            <a:stCxn id="242" idx="3"/>
            <a:endCxn id="183" idx="2"/>
          </p:cNvCxnSpPr>
          <p:nvPr/>
        </p:nvCxnSpPr>
        <p:spPr>
          <a:xfrm>
            <a:off x="1196721" y="2150899"/>
            <a:ext cx="342348" cy="76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: Elbow 189">
            <a:extLst>
              <a:ext uri="{FF2B5EF4-FFF2-40B4-BE49-F238E27FC236}">
                <a16:creationId xmlns:a16="http://schemas.microsoft.com/office/drawing/2014/main" id="{F781954D-0E9A-4FF0-8F47-A3D0339B8FAB}"/>
              </a:ext>
            </a:extLst>
          </p:cNvPr>
          <p:cNvCxnSpPr>
            <a:cxnSpLocks/>
            <a:endCxn id="183" idx="4"/>
          </p:cNvCxnSpPr>
          <p:nvPr/>
        </p:nvCxnSpPr>
        <p:spPr>
          <a:xfrm rot="16200000" flipV="1">
            <a:off x="674632" y="3201495"/>
            <a:ext cx="3092796" cy="1196797"/>
          </a:xfrm>
          <a:prstGeom prst="bentConnector3">
            <a:avLst>
              <a:gd name="adj1" fmla="val -15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: Elbow 198">
            <a:extLst>
              <a:ext uri="{FF2B5EF4-FFF2-40B4-BE49-F238E27FC236}">
                <a16:creationId xmlns:a16="http://schemas.microsoft.com/office/drawing/2014/main" id="{D5D6F90D-FA17-47CB-9B8B-5FD976A09CF5}"/>
              </a:ext>
            </a:extLst>
          </p:cNvPr>
          <p:cNvCxnSpPr>
            <a:cxnSpLocks/>
            <a:endCxn id="83" idx="2"/>
          </p:cNvCxnSpPr>
          <p:nvPr/>
        </p:nvCxnSpPr>
        <p:spPr>
          <a:xfrm flipV="1">
            <a:off x="5016762" y="3615044"/>
            <a:ext cx="1227712" cy="12077"/>
          </a:xfrm>
          <a:prstGeom prst="bentConnector3">
            <a:avLst>
              <a:gd name="adj1" fmla="val 347"/>
            </a:avLst>
          </a:prstGeom>
          <a:ln>
            <a:solidFill>
              <a:srgbClr val="DC74B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Rectangle 206">
            <a:extLst>
              <a:ext uri="{FF2B5EF4-FFF2-40B4-BE49-F238E27FC236}">
                <a16:creationId xmlns:a16="http://schemas.microsoft.com/office/drawing/2014/main" id="{1E0DC0E8-0E16-444A-9901-4DAD565F7F5A}"/>
              </a:ext>
            </a:extLst>
          </p:cNvPr>
          <p:cNvSpPr/>
          <p:nvPr/>
        </p:nvSpPr>
        <p:spPr>
          <a:xfrm>
            <a:off x="1877961" y="1602557"/>
            <a:ext cx="1900194" cy="2331317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E49385A1-AA9F-440C-A6FD-1EC708952E08}"/>
              </a:ext>
            </a:extLst>
          </p:cNvPr>
          <p:cNvSpPr txBox="1"/>
          <p:nvPr/>
        </p:nvSpPr>
        <p:spPr>
          <a:xfrm>
            <a:off x="3118925" y="1173236"/>
            <a:ext cx="8471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50" dirty="0"/>
              <a:t>Outer loop controller</a:t>
            </a: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D58038B4-C23A-4255-8317-02AC74E80976}"/>
              </a:ext>
            </a:extLst>
          </p:cNvPr>
          <p:cNvSpPr/>
          <p:nvPr/>
        </p:nvSpPr>
        <p:spPr>
          <a:xfrm>
            <a:off x="3921445" y="1666925"/>
            <a:ext cx="4099232" cy="2331317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89E8762A-F821-4279-8207-E36258624A4A}"/>
              </a:ext>
            </a:extLst>
          </p:cNvPr>
          <p:cNvSpPr txBox="1"/>
          <p:nvPr/>
        </p:nvSpPr>
        <p:spPr>
          <a:xfrm>
            <a:off x="7342985" y="1294576"/>
            <a:ext cx="84717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50" dirty="0"/>
              <a:t>Inner loop</a:t>
            </a:r>
          </a:p>
          <a:p>
            <a:r>
              <a:rPr lang="en-SG" sz="1050" dirty="0"/>
              <a:t>controllers</a:t>
            </a:r>
          </a:p>
        </p:txBody>
      </p:sp>
      <p:sp>
        <p:nvSpPr>
          <p:cNvPr id="242" name="Rectangle: Rounded Corners 241">
            <a:extLst>
              <a:ext uri="{FF2B5EF4-FFF2-40B4-BE49-F238E27FC236}">
                <a16:creationId xmlns:a16="http://schemas.microsoft.com/office/drawing/2014/main" id="{E0BA1A40-0786-42E6-839A-4BAE2DDA99B2}"/>
              </a:ext>
            </a:extLst>
          </p:cNvPr>
          <p:cNvSpPr/>
          <p:nvPr/>
        </p:nvSpPr>
        <p:spPr>
          <a:xfrm>
            <a:off x="126863" y="1904096"/>
            <a:ext cx="1069858" cy="49360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SG" sz="1200" dirty="0">
                <a:solidFill>
                  <a:schemeClr val="tx1"/>
                </a:solidFill>
              </a:rPr>
              <a:t>Trajectory planner</a:t>
            </a:r>
            <a:endParaRPr lang="en-SG" dirty="0">
              <a:solidFill>
                <a:schemeClr val="tx1"/>
              </a:solidFill>
            </a:endParaRP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9BE48AD7-6D39-4ADF-987D-92D184B27EF9}"/>
              </a:ext>
            </a:extLst>
          </p:cNvPr>
          <p:cNvSpPr txBox="1"/>
          <p:nvPr/>
        </p:nvSpPr>
        <p:spPr>
          <a:xfrm>
            <a:off x="3288120" y="4172241"/>
            <a:ext cx="1260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900" dirty="0"/>
              <a:t>Desired yaw and State </a:t>
            </a:r>
          </a:p>
          <a:p>
            <a:r>
              <a:rPr lang="en-SG" sz="900" dirty="0"/>
              <a:t>Acceleration error</a:t>
            </a:r>
          </a:p>
        </p:txBody>
      </p: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DA030F1E-1F22-42A9-980E-F91B37B9D116}"/>
              </a:ext>
            </a:extLst>
          </p:cNvPr>
          <p:cNvGrpSpPr/>
          <p:nvPr/>
        </p:nvGrpSpPr>
        <p:grpSpPr>
          <a:xfrm>
            <a:off x="2828058" y="3037127"/>
            <a:ext cx="8884524" cy="2321217"/>
            <a:chOff x="2828058" y="3037127"/>
            <a:chExt cx="8884524" cy="2321217"/>
          </a:xfrm>
        </p:grpSpPr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A30BF7EB-8A48-4712-8E1A-097C309457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28058" y="5346290"/>
              <a:ext cx="8046729" cy="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366D21A9-7071-4425-9E99-E6CAEA6EB3FB}"/>
                </a:ext>
              </a:extLst>
            </p:cNvPr>
            <p:cNvCxnSpPr/>
            <p:nvPr/>
          </p:nvCxnSpPr>
          <p:spPr>
            <a:xfrm>
              <a:off x="11712582" y="3037127"/>
              <a:ext cx="0" cy="2321217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C63F6925-3745-44DB-AD01-38676EB9FB65}"/>
                </a:ext>
              </a:extLst>
            </p:cNvPr>
            <p:cNvCxnSpPr>
              <a:cxnSpLocks/>
            </p:cNvCxnSpPr>
            <p:nvPr/>
          </p:nvCxnSpPr>
          <p:spPr>
            <a:xfrm>
              <a:off x="10874787" y="5358344"/>
              <a:ext cx="837795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78" name="TextBox 277">
            <a:extLst>
              <a:ext uri="{FF2B5EF4-FFF2-40B4-BE49-F238E27FC236}">
                <a16:creationId xmlns:a16="http://schemas.microsoft.com/office/drawing/2014/main" id="{AF03D15A-5F02-479A-B401-DD2087FF41D0}"/>
              </a:ext>
            </a:extLst>
          </p:cNvPr>
          <p:cNvSpPr txBox="1"/>
          <p:nvPr/>
        </p:nvSpPr>
        <p:spPr>
          <a:xfrm>
            <a:off x="7491231" y="5358344"/>
            <a:ext cx="22077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Current state: X,Y position</a:t>
            </a:r>
          </a:p>
        </p:txBody>
      </p:sp>
      <p:cxnSp>
        <p:nvCxnSpPr>
          <p:cNvPr id="306" name="Connector: Elbow 305">
            <a:extLst>
              <a:ext uri="{FF2B5EF4-FFF2-40B4-BE49-F238E27FC236}">
                <a16:creationId xmlns:a16="http://schemas.microsoft.com/office/drawing/2014/main" id="{9E028DC0-867E-483F-A845-65088EA5CAE4}"/>
              </a:ext>
            </a:extLst>
          </p:cNvPr>
          <p:cNvCxnSpPr/>
          <p:nvPr/>
        </p:nvCxnSpPr>
        <p:spPr>
          <a:xfrm flipV="1">
            <a:off x="5010300" y="3185076"/>
            <a:ext cx="852341" cy="125765"/>
          </a:xfrm>
          <a:prstGeom prst="bentConnector3">
            <a:avLst>
              <a:gd name="adj1" fmla="val -3044"/>
            </a:avLst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" name="Rectangle: Rounded Corners 307">
            <a:extLst>
              <a:ext uri="{FF2B5EF4-FFF2-40B4-BE49-F238E27FC236}">
                <a16:creationId xmlns:a16="http://schemas.microsoft.com/office/drawing/2014/main" id="{D603EB9D-7498-479B-9F63-42AD486CC377}"/>
              </a:ext>
            </a:extLst>
          </p:cNvPr>
          <p:cNvSpPr/>
          <p:nvPr/>
        </p:nvSpPr>
        <p:spPr>
          <a:xfrm>
            <a:off x="10760897" y="4526105"/>
            <a:ext cx="1108674" cy="936758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100" dirty="0">
                <a:solidFill>
                  <a:schemeClr val="tx1"/>
                </a:solidFill>
              </a:rPr>
              <a:t>Sensing &amp; estimation</a:t>
            </a:r>
            <a:endParaRPr lang="en-SG" dirty="0">
              <a:solidFill>
                <a:schemeClr val="tx1"/>
              </a:solidFill>
            </a:endParaRPr>
          </a:p>
        </p:txBody>
      </p:sp>
      <p:cxnSp>
        <p:nvCxnSpPr>
          <p:cNvPr id="310" name="Straight Arrow Connector 309">
            <a:extLst>
              <a:ext uri="{FF2B5EF4-FFF2-40B4-BE49-F238E27FC236}">
                <a16:creationId xmlns:a16="http://schemas.microsoft.com/office/drawing/2014/main" id="{989E72CC-F573-46E7-BFE2-B9BE1B95619C}"/>
              </a:ext>
            </a:extLst>
          </p:cNvPr>
          <p:cNvCxnSpPr/>
          <p:nvPr/>
        </p:nvCxnSpPr>
        <p:spPr>
          <a:xfrm>
            <a:off x="11709150" y="3038956"/>
            <a:ext cx="0" cy="145395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2" name="TextBox 311">
            <a:extLst>
              <a:ext uri="{FF2B5EF4-FFF2-40B4-BE49-F238E27FC236}">
                <a16:creationId xmlns:a16="http://schemas.microsoft.com/office/drawing/2014/main" id="{F3D93026-474C-431F-BA51-E7CE82728226}"/>
              </a:ext>
            </a:extLst>
          </p:cNvPr>
          <p:cNvSpPr txBox="1"/>
          <p:nvPr/>
        </p:nvSpPr>
        <p:spPr>
          <a:xfrm>
            <a:off x="11391959" y="2723852"/>
            <a:ext cx="9690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/>
              <a:t>Output</a:t>
            </a:r>
          </a:p>
        </p:txBody>
      </p:sp>
      <p:sp>
        <p:nvSpPr>
          <p:cNvPr id="315" name="TextBox 314">
            <a:extLst>
              <a:ext uri="{FF2B5EF4-FFF2-40B4-BE49-F238E27FC236}">
                <a16:creationId xmlns:a16="http://schemas.microsoft.com/office/drawing/2014/main" id="{36BFE375-B06B-43B8-A00D-09F4399FC74F}"/>
              </a:ext>
            </a:extLst>
          </p:cNvPr>
          <p:cNvSpPr txBox="1"/>
          <p:nvPr/>
        </p:nvSpPr>
        <p:spPr>
          <a:xfrm>
            <a:off x="4278848" y="2012584"/>
            <a:ext cx="12368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50" dirty="0">
                <a:solidFill>
                  <a:schemeClr val="accent6">
                    <a:lumMod val="75000"/>
                  </a:schemeClr>
                </a:solidFill>
              </a:rPr>
              <a:t>Desired </a:t>
            </a:r>
          </a:p>
          <a:p>
            <a:r>
              <a:rPr lang="en-SG" sz="1050" dirty="0">
                <a:solidFill>
                  <a:schemeClr val="accent6">
                    <a:lumMod val="75000"/>
                  </a:schemeClr>
                </a:solidFill>
              </a:rPr>
              <a:t>moment</a:t>
            </a:r>
          </a:p>
        </p:txBody>
      </p:sp>
      <p:cxnSp>
        <p:nvCxnSpPr>
          <p:cNvPr id="319" name="Straight Arrow Connector 318">
            <a:extLst>
              <a:ext uri="{FF2B5EF4-FFF2-40B4-BE49-F238E27FC236}">
                <a16:creationId xmlns:a16="http://schemas.microsoft.com/office/drawing/2014/main" id="{BB682D6F-6CA0-488D-94A0-0574BDB0F040}"/>
              </a:ext>
            </a:extLst>
          </p:cNvPr>
          <p:cNvCxnSpPr/>
          <p:nvPr/>
        </p:nvCxnSpPr>
        <p:spPr>
          <a:xfrm>
            <a:off x="3691765" y="3459413"/>
            <a:ext cx="2743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>
            <a:extLst>
              <a:ext uri="{FF2B5EF4-FFF2-40B4-BE49-F238E27FC236}">
                <a16:creationId xmlns:a16="http://schemas.microsoft.com/office/drawing/2014/main" id="{40B61CBF-623B-4638-9847-48099C44327D}"/>
              </a:ext>
            </a:extLst>
          </p:cNvPr>
          <p:cNvCxnSpPr>
            <a:endCxn id="255" idx="0"/>
          </p:cNvCxnSpPr>
          <p:nvPr/>
        </p:nvCxnSpPr>
        <p:spPr>
          <a:xfrm>
            <a:off x="3819307" y="3459412"/>
            <a:ext cx="99081" cy="7128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4" name="TextBox 323">
            <a:extLst>
              <a:ext uri="{FF2B5EF4-FFF2-40B4-BE49-F238E27FC236}">
                <a16:creationId xmlns:a16="http://schemas.microsoft.com/office/drawing/2014/main" id="{63CB8949-AA5E-4A34-97C7-A2F8AE746493}"/>
              </a:ext>
            </a:extLst>
          </p:cNvPr>
          <p:cNvSpPr txBox="1"/>
          <p:nvPr/>
        </p:nvSpPr>
        <p:spPr>
          <a:xfrm>
            <a:off x="4628731" y="2871664"/>
            <a:ext cx="1236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900" dirty="0">
                <a:solidFill>
                  <a:schemeClr val="accent4">
                    <a:lumMod val="75000"/>
                  </a:schemeClr>
                </a:solidFill>
              </a:rPr>
              <a:t>Desired </a:t>
            </a:r>
          </a:p>
          <a:p>
            <a:r>
              <a:rPr lang="en-SG" sz="900" dirty="0">
                <a:solidFill>
                  <a:schemeClr val="accent4">
                    <a:lumMod val="75000"/>
                  </a:schemeClr>
                </a:solidFill>
              </a:rPr>
              <a:t>moments</a:t>
            </a:r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23F0AB4C-D528-4519-8EAE-76C7A64290B5}"/>
              </a:ext>
            </a:extLst>
          </p:cNvPr>
          <p:cNvSpPr txBox="1"/>
          <p:nvPr/>
        </p:nvSpPr>
        <p:spPr>
          <a:xfrm>
            <a:off x="5096594" y="3298048"/>
            <a:ext cx="1236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900" dirty="0">
                <a:solidFill>
                  <a:srgbClr val="DC74B9"/>
                </a:solidFill>
              </a:rPr>
              <a:t>Desired </a:t>
            </a:r>
          </a:p>
          <a:p>
            <a:r>
              <a:rPr lang="en-SG" sz="900" dirty="0">
                <a:solidFill>
                  <a:srgbClr val="DC74B9"/>
                </a:solidFill>
              </a:rPr>
              <a:t>moments</a:t>
            </a: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FBED22B4-7F2A-476A-B633-34B391156678}"/>
              </a:ext>
            </a:extLst>
          </p:cNvPr>
          <p:cNvSpPr txBox="1"/>
          <p:nvPr/>
        </p:nvSpPr>
        <p:spPr>
          <a:xfrm>
            <a:off x="4530006" y="2463340"/>
            <a:ext cx="1236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900" dirty="0">
                <a:solidFill>
                  <a:schemeClr val="accent2"/>
                </a:solidFill>
              </a:rPr>
              <a:t>Desired </a:t>
            </a:r>
          </a:p>
          <a:p>
            <a:r>
              <a:rPr lang="en-SG" sz="900" dirty="0">
                <a:solidFill>
                  <a:schemeClr val="accent2"/>
                </a:solidFill>
              </a:rPr>
              <a:t>moments</a:t>
            </a:r>
          </a:p>
        </p:txBody>
      </p:sp>
      <p:cxnSp>
        <p:nvCxnSpPr>
          <p:cNvPr id="338" name="Connector: Elbow 337">
            <a:extLst>
              <a:ext uri="{FF2B5EF4-FFF2-40B4-BE49-F238E27FC236}">
                <a16:creationId xmlns:a16="http://schemas.microsoft.com/office/drawing/2014/main" id="{5458ED98-D922-4D4E-AD37-A4B752C50546}"/>
              </a:ext>
            </a:extLst>
          </p:cNvPr>
          <p:cNvCxnSpPr>
            <a:endCxn id="6" idx="0"/>
          </p:cNvCxnSpPr>
          <p:nvPr/>
        </p:nvCxnSpPr>
        <p:spPr>
          <a:xfrm>
            <a:off x="3542511" y="1901952"/>
            <a:ext cx="5305314" cy="26430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0" name="TextBox 339">
            <a:extLst>
              <a:ext uri="{FF2B5EF4-FFF2-40B4-BE49-F238E27FC236}">
                <a16:creationId xmlns:a16="http://schemas.microsoft.com/office/drawing/2014/main" id="{B7E7D73F-2051-40D0-A940-4382BBD9B1D9}"/>
              </a:ext>
            </a:extLst>
          </p:cNvPr>
          <p:cNvSpPr txBox="1"/>
          <p:nvPr/>
        </p:nvSpPr>
        <p:spPr>
          <a:xfrm>
            <a:off x="4859194" y="1664826"/>
            <a:ext cx="123680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50" dirty="0">
                <a:solidFill>
                  <a:schemeClr val="accent1">
                    <a:lumMod val="75000"/>
                  </a:schemeClr>
                </a:solidFill>
              </a:rPr>
              <a:t>Desired force</a:t>
            </a:r>
          </a:p>
        </p:txBody>
      </p:sp>
    </p:spTree>
    <p:extLst>
      <p:ext uri="{BB962C8B-B14F-4D97-AF65-F5344CB8AC3E}">
        <p14:creationId xmlns:p14="http://schemas.microsoft.com/office/powerpoint/2010/main" val="818991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F6D82-4DF2-4FAB-8766-BEACBAA38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600" y="-682625"/>
            <a:ext cx="10515600" cy="732155"/>
          </a:xfrm>
        </p:spPr>
        <p:txBody>
          <a:bodyPr/>
          <a:lstStyle/>
          <a:p>
            <a:r>
              <a:rPr lang="en-SG" dirty="0"/>
              <a:t>MATLAB Software pipeline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7839A62-7FAA-4269-9C27-3A46D84E3CED}"/>
              </a:ext>
            </a:extLst>
          </p:cNvPr>
          <p:cNvSpPr/>
          <p:nvPr/>
        </p:nvSpPr>
        <p:spPr>
          <a:xfrm>
            <a:off x="3261868" y="238173"/>
            <a:ext cx="835152" cy="33528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>
                <a:solidFill>
                  <a:schemeClr val="tx1"/>
                </a:solidFill>
              </a:rPr>
              <a:t>Main .m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2D0902F-830B-44C3-98D9-FF21A5BEAEC2}"/>
              </a:ext>
            </a:extLst>
          </p:cNvPr>
          <p:cNvSpPr/>
          <p:nvPr/>
        </p:nvSpPr>
        <p:spPr>
          <a:xfrm>
            <a:off x="2871216" y="875792"/>
            <a:ext cx="1616456" cy="33528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>
                <a:solidFill>
                  <a:schemeClr val="tx1"/>
                </a:solidFill>
              </a:rPr>
              <a:t>State_machine.m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A19657E-2844-4527-B9B9-7A87FC52B9D2}"/>
              </a:ext>
            </a:extLst>
          </p:cNvPr>
          <p:cNvSpPr/>
          <p:nvPr/>
        </p:nvSpPr>
        <p:spPr>
          <a:xfrm>
            <a:off x="4786376" y="870584"/>
            <a:ext cx="1616456" cy="33528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>
                <a:solidFill>
                  <a:schemeClr val="tx1"/>
                </a:solidFill>
              </a:rPr>
              <a:t>Mission_planner.m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5527626-CF88-4F6B-BE15-223B5C326985}"/>
              </a:ext>
            </a:extLst>
          </p:cNvPr>
          <p:cNvSpPr/>
          <p:nvPr/>
        </p:nvSpPr>
        <p:spPr>
          <a:xfrm>
            <a:off x="4786376" y="1435290"/>
            <a:ext cx="1616456" cy="33528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>
                <a:solidFill>
                  <a:schemeClr val="tx1"/>
                </a:solidFill>
              </a:rPr>
              <a:t>Compute_trajectory.m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10AC11C-2F6E-47E6-BEF1-F83F9D5CCF3E}"/>
              </a:ext>
            </a:extLst>
          </p:cNvPr>
          <p:cNvSpPr/>
          <p:nvPr/>
        </p:nvSpPr>
        <p:spPr>
          <a:xfrm>
            <a:off x="3547872" y="2483799"/>
            <a:ext cx="1616456" cy="33528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 err="1">
                <a:solidFill>
                  <a:schemeClr val="tx1"/>
                </a:solidFill>
              </a:rPr>
              <a:t>LQR_controller.m</a:t>
            </a:r>
            <a:endParaRPr lang="en-SG" sz="1200" dirty="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14C40D9-9A63-4ECC-BE01-D0AFFD791472}"/>
              </a:ext>
            </a:extLst>
          </p:cNvPr>
          <p:cNvSpPr/>
          <p:nvPr/>
        </p:nvSpPr>
        <p:spPr>
          <a:xfrm>
            <a:off x="990600" y="2569975"/>
            <a:ext cx="1616456" cy="33528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>
                <a:solidFill>
                  <a:schemeClr val="tx1"/>
                </a:solidFill>
              </a:rPr>
              <a:t>Position_controller.m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23F1F8C-FAB0-4809-9D81-E7910048D1B2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3679444" y="573453"/>
            <a:ext cx="0" cy="3023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D14A061-690C-4B23-B703-1E82675EFC95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V="1">
            <a:off x="4487672" y="1038224"/>
            <a:ext cx="298704" cy="5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35FEBF9-61CA-4DE4-838F-7D5BB2A2D7EF}"/>
              </a:ext>
            </a:extLst>
          </p:cNvPr>
          <p:cNvCxnSpPr>
            <a:stCxn id="8" idx="2"/>
            <a:endCxn id="10" idx="0"/>
          </p:cNvCxnSpPr>
          <p:nvPr/>
        </p:nvCxnSpPr>
        <p:spPr>
          <a:xfrm>
            <a:off x="5594604" y="1205864"/>
            <a:ext cx="0" cy="2294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C98952E-4E37-4941-B681-AE68FAD30E5C}"/>
              </a:ext>
            </a:extLst>
          </p:cNvPr>
          <p:cNvSpPr/>
          <p:nvPr/>
        </p:nvSpPr>
        <p:spPr>
          <a:xfrm>
            <a:off x="990600" y="3075943"/>
            <a:ext cx="1616456" cy="33528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 err="1">
                <a:solidFill>
                  <a:schemeClr val="tx1"/>
                </a:solidFill>
              </a:rPr>
              <a:t>Attitude_controller.m</a:t>
            </a:r>
            <a:endParaRPr lang="en-SG" sz="1200" dirty="0">
              <a:solidFill>
                <a:schemeClr val="tx1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BAAF20D-DCD7-4BC0-8359-67BAFE2DA5DE}"/>
              </a:ext>
            </a:extLst>
          </p:cNvPr>
          <p:cNvSpPr/>
          <p:nvPr/>
        </p:nvSpPr>
        <p:spPr>
          <a:xfrm>
            <a:off x="3547872" y="2982790"/>
            <a:ext cx="1616456" cy="33528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 err="1">
                <a:solidFill>
                  <a:schemeClr val="tx1"/>
                </a:solidFill>
              </a:rPr>
              <a:t>motor_controller.m</a:t>
            </a:r>
            <a:endParaRPr lang="en-SG" sz="1200" dirty="0">
              <a:solidFill>
                <a:schemeClr val="tx1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18014CD-B02E-4507-BA0B-007369A0063D}"/>
              </a:ext>
            </a:extLst>
          </p:cNvPr>
          <p:cNvSpPr/>
          <p:nvPr/>
        </p:nvSpPr>
        <p:spPr>
          <a:xfrm>
            <a:off x="3547872" y="3542287"/>
            <a:ext cx="1616456" cy="33528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 err="1">
                <a:solidFill>
                  <a:schemeClr val="tx1"/>
                </a:solidFill>
              </a:rPr>
              <a:t>dynamic_model.m</a:t>
            </a:r>
            <a:endParaRPr lang="en-SG" sz="1200" dirty="0">
              <a:solidFill>
                <a:schemeClr val="tx1"/>
              </a:solidFill>
            </a:endParaRP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6072E18A-4962-4CA2-9BCA-9BE10ED9A392}"/>
              </a:ext>
            </a:extLst>
          </p:cNvPr>
          <p:cNvCxnSpPr>
            <a:cxnSpLocks/>
            <a:stCxn id="29" idx="2"/>
            <a:endCxn id="63" idx="3"/>
          </p:cNvCxnSpPr>
          <p:nvPr/>
        </p:nvCxnSpPr>
        <p:spPr>
          <a:xfrm rot="5400000" flipH="1">
            <a:off x="2630930" y="2152397"/>
            <a:ext cx="1701296" cy="1749044"/>
          </a:xfrm>
          <a:prstGeom prst="bentConnector4">
            <a:avLst>
              <a:gd name="adj1" fmla="val -13437"/>
              <a:gd name="adj2" fmla="val 7310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868930A-059D-4701-8FE0-060167F5A75F}"/>
              </a:ext>
            </a:extLst>
          </p:cNvPr>
          <p:cNvCxnSpPr>
            <a:stCxn id="13" idx="2"/>
            <a:endCxn id="23" idx="0"/>
          </p:cNvCxnSpPr>
          <p:nvPr/>
        </p:nvCxnSpPr>
        <p:spPr>
          <a:xfrm>
            <a:off x="1798828" y="2905255"/>
            <a:ext cx="0" cy="170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766AE35-1B32-484B-8DF9-AFF0A90B9C9F}"/>
              </a:ext>
            </a:extLst>
          </p:cNvPr>
          <p:cNvCxnSpPr>
            <a:cxnSpLocks/>
            <a:stCxn id="12" idx="2"/>
            <a:endCxn id="27" idx="0"/>
          </p:cNvCxnSpPr>
          <p:nvPr/>
        </p:nvCxnSpPr>
        <p:spPr>
          <a:xfrm>
            <a:off x="4356100" y="2819079"/>
            <a:ext cx="0" cy="163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9883D666-ECAA-4640-A576-53506E1CE577}"/>
              </a:ext>
            </a:extLst>
          </p:cNvPr>
          <p:cNvSpPr/>
          <p:nvPr/>
        </p:nvSpPr>
        <p:spPr>
          <a:xfrm>
            <a:off x="990600" y="2008631"/>
            <a:ext cx="1616456" cy="33528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 err="1">
                <a:solidFill>
                  <a:schemeClr val="tx1"/>
                </a:solidFill>
              </a:rPr>
              <a:t>Quadcopter_model.m</a:t>
            </a:r>
            <a:endParaRPr lang="en-SG" sz="1200" dirty="0">
              <a:solidFill>
                <a:schemeClr val="tx1"/>
              </a:solidFill>
            </a:endParaRP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3E13CEA-B38A-47B8-BA71-4666A5A746A0}"/>
              </a:ext>
            </a:extLst>
          </p:cNvPr>
          <p:cNvCxnSpPr>
            <a:cxnSpLocks/>
            <a:stCxn id="63" idx="2"/>
          </p:cNvCxnSpPr>
          <p:nvPr/>
        </p:nvCxnSpPr>
        <p:spPr>
          <a:xfrm>
            <a:off x="1798828" y="2343911"/>
            <a:ext cx="0" cy="219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BD5FE6C4-6873-4B28-8B3D-F29E819F420A}"/>
              </a:ext>
            </a:extLst>
          </p:cNvPr>
          <p:cNvCxnSpPr>
            <a:cxnSpLocks/>
            <a:stCxn id="27" idx="2"/>
            <a:endCxn id="29" idx="0"/>
          </p:cNvCxnSpPr>
          <p:nvPr/>
        </p:nvCxnSpPr>
        <p:spPr>
          <a:xfrm>
            <a:off x="4356100" y="3318070"/>
            <a:ext cx="0" cy="224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EE5D2BC8-E998-43D1-9DE3-5E0F182E4772}"/>
              </a:ext>
            </a:extLst>
          </p:cNvPr>
          <p:cNvSpPr/>
          <p:nvPr/>
        </p:nvSpPr>
        <p:spPr>
          <a:xfrm>
            <a:off x="3547872" y="1986087"/>
            <a:ext cx="1616456" cy="33528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 err="1">
                <a:solidFill>
                  <a:schemeClr val="tx1"/>
                </a:solidFill>
              </a:rPr>
              <a:t>State_space_model.m</a:t>
            </a:r>
            <a:endParaRPr lang="en-SG" sz="1200" dirty="0">
              <a:solidFill>
                <a:schemeClr val="tx1"/>
              </a:solidFill>
            </a:endParaRPr>
          </a:p>
        </p:txBody>
      </p: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9C7CB350-F0AB-465C-9A54-EF8509111A69}"/>
              </a:ext>
            </a:extLst>
          </p:cNvPr>
          <p:cNvCxnSpPr>
            <a:stCxn id="29" idx="2"/>
            <a:endCxn id="78" idx="3"/>
          </p:cNvCxnSpPr>
          <p:nvPr/>
        </p:nvCxnSpPr>
        <p:spPr>
          <a:xfrm rot="5400000" flipH="1" flipV="1">
            <a:off x="3898294" y="2611533"/>
            <a:ext cx="1723840" cy="808228"/>
          </a:xfrm>
          <a:prstGeom prst="bentConnector4">
            <a:avLst>
              <a:gd name="adj1" fmla="val -13261"/>
              <a:gd name="adj2" fmla="val 12828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50AE0038-2370-44EA-BC6B-9A8CFF8DB534}"/>
              </a:ext>
            </a:extLst>
          </p:cNvPr>
          <p:cNvCxnSpPr>
            <a:stCxn id="10" idx="1"/>
          </p:cNvCxnSpPr>
          <p:nvPr/>
        </p:nvCxnSpPr>
        <p:spPr>
          <a:xfrm flipH="1" flipV="1">
            <a:off x="4443984" y="1205864"/>
            <a:ext cx="342392" cy="397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or: Elbow 86">
            <a:extLst>
              <a:ext uri="{FF2B5EF4-FFF2-40B4-BE49-F238E27FC236}">
                <a16:creationId xmlns:a16="http://schemas.microsoft.com/office/drawing/2014/main" id="{CF13812C-CD5C-4512-A1A2-CB0F6BB8EFC6}"/>
              </a:ext>
            </a:extLst>
          </p:cNvPr>
          <p:cNvCxnSpPr>
            <a:stCxn id="6" idx="2"/>
            <a:endCxn id="78" idx="0"/>
          </p:cNvCxnSpPr>
          <p:nvPr/>
        </p:nvCxnSpPr>
        <p:spPr>
          <a:xfrm rot="16200000" flipH="1">
            <a:off x="3630265" y="1260251"/>
            <a:ext cx="775015" cy="67665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or: Elbow 88">
            <a:extLst>
              <a:ext uri="{FF2B5EF4-FFF2-40B4-BE49-F238E27FC236}">
                <a16:creationId xmlns:a16="http://schemas.microsoft.com/office/drawing/2014/main" id="{F8033D89-B1DD-4789-8ABF-AEE27119B943}"/>
              </a:ext>
            </a:extLst>
          </p:cNvPr>
          <p:cNvCxnSpPr>
            <a:stCxn id="6" idx="2"/>
            <a:endCxn id="63" idx="0"/>
          </p:cNvCxnSpPr>
          <p:nvPr/>
        </p:nvCxnSpPr>
        <p:spPr>
          <a:xfrm rot="5400000">
            <a:off x="2340357" y="669543"/>
            <a:ext cx="797559" cy="188061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040DE9B8-DBA1-41C5-9B41-B0A6E8F60CB9}"/>
              </a:ext>
            </a:extLst>
          </p:cNvPr>
          <p:cNvSpPr/>
          <p:nvPr/>
        </p:nvSpPr>
        <p:spPr>
          <a:xfrm>
            <a:off x="1157487" y="692028"/>
            <a:ext cx="971785" cy="31360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sz="1200" dirty="0" err="1"/>
              <a:t>Plots.m</a:t>
            </a:r>
            <a:endParaRPr lang="en-SG" sz="1200" dirty="0"/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3E61A639-75FE-4495-89C2-C4164B2B9E70}"/>
              </a:ext>
            </a:extLst>
          </p:cNvPr>
          <p:cNvSpPr/>
          <p:nvPr/>
        </p:nvSpPr>
        <p:spPr>
          <a:xfrm>
            <a:off x="1157486" y="1135760"/>
            <a:ext cx="971785" cy="31360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sz="1200" dirty="0" err="1"/>
              <a:t>Sim_data.m</a:t>
            </a:r>
            <a:endParaRPr lang="en-SG" sz="1200" dirty="0"/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41CB1C7F-092B-4797-8B58-2B6350F95340}"/>
              </a:ext>
            </a:extLst>
          </p:cNvPr>
          <p:cNvCxnSpPr>
            <a:stCxn id="78" idx="2"/>
            <a:endCxn id="12" idx="0"/>
          </p:cNvCxnSpPr>
          <p:nvPr/>
        </p:nvCxnSpPr>
        <p:spPr>
          <a:xfrm>
            <a:off x="4356100" y="2321367"/>
            <a:ext cx="0" cy="162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: Elbow 107">
            <a:extLst>
              <a:ext uri="{FF2B5EF4-FFF2-40B4-BE49-F238E27FC236}">
                <a16:creationId xmlns:a16="http://schemas.microsoft.com/office/drawing/2014/main" id="{EA304872-8CBF-4740-9557-B1C0A579E852}"/>
              </a:ext>
            </a:extLst>
          </p:cNvPr>
          <p:cNvCxnSpPr>
            <a:stCxn id="6" idx="1"/>
            <a:endCxn id="97" idx="3"/>
          </p:cNvCxnSpPr>
          <p:nvPr/>
        </p:nvCxnSpPr>
        <p:spPr>
          <a:xfrm rot="10800000">
            <a:off x="2129272" y="848830"/>
            <a:ext cx="741944" cy="19460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: Elbow 109">
            <a:extLst>
              <a:ext uri="{FF2B5EF4-FFF2-40B4-BE49-F238E27FC236}">
                <a16:creationId xmlns:a16="http://schemas.microsoft.com/office/drawing/2014/main" id="{192ABE93-7CED-45FD-948C-5BE829084AC0}"/>
              </a:ext>
            </a:extLst>
          </p:cNvPr>
          <p:cNvCxnSpPr>
            <a:stCxn id="6" idx="1"/>
            <a:endCxn id="103" idx="3"/>
          </p:cNvCxnSpPr>
          <p:nvPr/>
        </p:nvCxnSpPr>
        <p:spPr>
          <a:xfrm rot="10800000" flipV="1">
            <a:off x="2129272" y="1043431"/>
            <a:ext cx="741945" cy="24912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85D7061F-FDA8-4AE4-95D7-79A9587CEB0E}"/>
              </a:ext>
            </a:extLst>
          </p:cNvPr>
          <p:cNvCxnSpPr>
            <a:stCxn id="13" idx="3"/>
            <a:endCxn id="27" idx="1"/>
          </p:cNvCxnSpPr>
          <p:nvPr/>
        </p:nvCxnSpPr>
        <p:spPr>
          <a:xfrm>
            <a:off x="2607056" y="2737615"/>
            <a:ext cx="940816" cy="412815"/>
          </a:xfrm>
          <a:prstGeom prst="bentConnector3">
            <a:avLst>
              <a:gd name="adj1" fmla="val 2537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: Elbow 116">
            <a:extLst>
              <a:ext uri="{FF2B5EF4-FFF2-40B4-BE49-F238E27FC236}">
                <a16:creationId xmlns:a16="http://schemas.microsoft.com/office/drawing/2014/main" id="{34A24D5F-380E-4091-ABD3-1C06CB8884C8}"/>
              </a:ext>
            </a:extLst>
          </p:cNvPr>
          <p:cNvCxnSpPr>
            <a:stCxn id="23" idx="3"/>
            <a:endCxn id="27" idx="1"/>
          </p:cNvCxnSpPr>
          <p:nvPr/>
        </p:nvCxnSpPr>
        <p:spPr>
          <a:xfrm flipV="1">
            <a:off x="2607056" y="3150430"/>
            <a:ext cx="940816" cy="93153"/>
          </a:xfrm>
          <a:prstGeom prst="bentConnector3">
            <a:avLst>
              <a:gd name="adj1" fmla="val 2537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320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241</Words>
  <Application>Microsoft Office PowerPoint</Application>
  <PresentationFormat>Widescreen</PresentationFormat>
  <Paragraphs>79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Control system architecture https://www.mathworks.com/videos/drone-simulation-and-control-part-2-how-do-you-get-a-drone-to-hover--1539323448303.html</vt:lpstr>
      <vt:lpstr>MATLAB Software pipeline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wong</dc:creator>
  <cp:lastModifiedBy>david wong</cp:lastModifiedBy>
  <cp:revision>27</cp:revision>
  <dcterms:created xsi:type="dcterms:W3CDTF">2020-10-15T04:56:53Z</dcterms:created>
  <dcterms:modified xsi:type="dcterms:W3CDTF">2020-10-15T08:19:10Z</dcterms:modified>
</cp:coreProperties>
</file>